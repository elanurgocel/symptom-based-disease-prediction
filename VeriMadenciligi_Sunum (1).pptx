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1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9153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5029200" cy="50292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7772400" y="2286000"/>
            <a:ext cx="3200400" cy="3200400"/>
          </a:xfrm>
          <a:prstGeom prst="ellipse">
            <a:avLst/>
          </a:prstGeom>
          <a:solidFill>
            <a:srgbClr val="00ACC1">
              <a:alpha val="20000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54864" cy="13716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MADENCİLİĞİ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20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 Kullanarak Verilerle Hastalık Tahmini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4114800" cy="36576"/>
          </a:xfrm>
          <a:prstGeom prst="rect">
            <a:avLst/>
          </a:prstGeom>
          <a:solidFill>
            <a:srgbClr val="334E68"/>
          </a:solidFill>
          <a:ln w="12700">
            <a:solidFill>
              <a:srgbClr val="334E6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Nur Göçel / 231450079</a:t>
            </a:r>
          </a:p>
          <a:p>
            <a:pPr marL="0" indent="0">
              <a:buNone/>
            </a:pPr>
            <a:r>
              <a:rPr lang="tr-TR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Zülal Yıldız  / 221450027</a:t>
            </a:r>
          </a:p>
          <a:p>
            <a:pPr marL="0" indent="0">
              <a:buNone/>
            </a:pPr>
            <a:r>
              <a:rPr lang="tr-TR" sz="15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Nimet Çetin / 221450087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GENEL BAKIŞ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328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090057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005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6364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9659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1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300" dirty="0"/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27D161DD-0BC6-F848-2BFA-8DD2E2E9B3CD}"/>
              </a:ext>
            </a:extLst>
          </p:cNvPr>
          <p:cNvSpPr txBox="1"/>
          <p:nvPr/>
        </p:nvSpPr>
        <p:spPr>
          <a:xfrm>
            <a:off x="633549" y="817412"/>
            <a:ext cx="74980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b="1" dirty="0"/>
              <a:t>Veri Madenciliği ve Sınıflandırma Mantığı</a:t>
            </a:r>
          </a:p>
          <a:p>
            <a:pPr>
              <a:buNone/>
            </a:pPr>
            <a:r>
              <a:rPr lang="tr-TR" dirty="0"/>
              <a:t>Bu proje temel bir </a:t>
            </a:r>
            <a:r>
              <a:rPr lang="tr-TR" b="1" dirty="0"/>
              <a:t>Sınıflandırma (</a:t>
            </a:r>
            <a:r>
              <a:rPr lang="tr-TR" b="1" dirty="0" err="1"/>
              <a:t>Classification</a:t>
            </a:r>
            <a:r>
              <a:rPr lang="tr-TR" b="1" dirty="0"/>
              <a:t>)</a:t>
            </a:r>
            <a:r>
              <a:rPr lang="tr-TR" dirty="0"/>
              <a:t> problemidir. Sınıflandırma, denetimli öğrenmede (</a:t>
            </a:r>
            <a:r>
              <a:rPr lang="tr-TR" dirty="0" err="1"/>
              <a:t>supervised</a:t>
            </a:r>
            <a:r>
              <a:rPr lang="tr-TR" dirty="0"/>
              <a:t> </a:t>
            </a:r>
            <a:r>
              <a:rPr lang="tr-TR" dirty="0" err="1"/>
              <a:t>learning</a:t>
            </a:r>
            <a:r>
              <a:rPr lang="tr-TR" dirty="0"/>
              <a:t>) verileri önceden tanımlanmış kategorilere atama işlemidir.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Girdiler (</a:t>
            </a:r>
            <a:r>
              <a:rPr lang="tr-TR" b="1" dirty="0" err="1"/>
              <a:t>Features</a:t>
            </a:r>
            <a:r>
              <a:rPr lang="tr-TR" b="1" dirty="0"/>
              <a:t>):</a:t>
            </a:r>
            <a:r>
              <a:rPr lang="tr-TR" dirty="0"/>
              <a:t> 132 adet semptom (</a:t>
            </a:r>
            <a:r>
              <a:rPr lang="tr-TR" dirty="0" err="1"/>
              <a:t>itching</a:t>
            </a:r>
            <a:r>
              <a:rPr lang="tr-TR" dirty="0"/>
              <a:t>, </a:t>
            </a:r>
            <a:r>
              <a:rPr lang="tr-TR" dirty="0" err="1"/>
              <a:t>skin_rash</a:t>
            </a:r>
            <a:r>
              <a:rPr lang="tr-TR" dirty="0"/>
              <a:t> vb.). Bunlar "0" (yok) veya "1" (var) şeklinde ikili (</a:t>
            </a:r>
            <a:r>
              <a:rPr lang="tr-TR" dirty="0" err="1"/>
              <a:t>binary</a:t>
            </a:r>
            <a:r>
              <a:rPr lang="tr-TR" dirty="0"/>
              <a:t>) verilerdir.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Çıktı (</a:t>
            </a:r>
            <a:r>
              <a:rPr lang="tr-TR" b="1" dirty="0" err="1"/>
              <a:t>Target</a:t>
            </a:r>
            <a:r>
              <a:rPr lang="tr-TR" b="1" dirty="0"/>
              <a:t>):</a:t>
            </a:r>
            <a:r>
              <a:rPr lang="tr-TR" dirty="0"/>
              <a:t> 41 farklı hastalık sınıfından biri (</a:t>
            </a:r>
            <a:r>
              <a:rPr lang="tr-TR" dirty="0" err="1"/>
              <a:t>Prognosis</a:t>
            </a:r>
            <a:r>
              <a:rPr lang="tr-TR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Mantık:</a:t>
            </a:r>
            <a:r>
              <a:rPr lang="tr-TR" dirty="0"/>
              <a:t> Model, hangi semptomların hangi hastalıkla kümelendiğini öğrenir. Örneğin; "yüksek ateş" + "öksürük" + "nefes darlığı" bir araya geldiğinde model bunu "Zatürre" sınıfına atamayı öğrenir.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2400" dirty="0">
                <a:solidFill>
                  <a:schemeClr val="bg1"/>
                </a:solidFill>
              </a:rPr>
              <a:t>Algoritma Seçimi: Neden </a:t>
            </a:r>
            <a:r>
              <a:rPr lang="tr-TR" sz="2400" dirty="0" err="1">
                <a:solidFill>
                  <a:schemeClr val="bg1"/>
                </a:solidFill>
              </a:rPr>
              <a:t>Random</a:t>
            </a:r>
            <a:r>
              <a:rPr lang="tr-TR" sz="2400" dirty="0">
                <a:solidFill>
                  <a:schemeClr val="bg1"/>
                </a:solidFill>
              </a:rPr>
              <a:t> </a:t>
            </a:r>
            <a:r>
              <a:rPr lang="tr-TR" sz="2400" dirty="0" err="1">
                <a:solidFill>
                  <a:schemeClr val="bg1"/>
                </a:solidFill>
              </a:rPr>
              <a:t>Forest</a:t>
            </a:r>
            <a:r>
              <a:rPr lang="tr-TR" sz="2400" dirty="0">
                <a:solidFill>
                  <a:schemeClr val="bg1"/>
                </a:solidFill>
              </a:rPr>
              <a:t>?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46320" y="822960"/>
            <a:ext cx="3840480" cy="1143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029200" y="8686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029200" y="14813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194560"/>
            <a:ext cx="384048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5029200" y="22402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KDD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029200" y="28529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566160"/>
            <a:ext cx="3840480" cy="1143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029200" y="36118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029200" y="42245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AF55BC1F-18FD-CE1C-B223-AD40859CC421}"/>
              </a:ext>
            </a:extLst>
          </p:cNvPr>
          <p:cNvSpPr txBox="1"/>
          <p:nvPr/>
        </p:nvSpPr>
        <p:spPr>
          <a:xfrm>
            <a:off x="457202" y="807670"/>
            <a:ext cx="384047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1600" dirty="0"/>
              <a:t>Projemizde </a:t>
            </a:r>
            <a:r>
              <a:rPr lang="tr-TR" sz="1600" b="1" dirty="0" err="1"/>
              <a:t>Random</a:t>
            </a:r>
            <a:r>
              <a:rPr lang="tr-TR" sz="1600" b="1" dirty="0"/>
              <a:t> </a:t>
            </a:r>
            <a:r>
              <a:rPr lang="tr-TR" sz="1600" b="1" dirty="0" err="1"/>
              <a:t>Forest</a:t>
            </a:r>
            <a:r>
              <a:rPr lang="tr-TR" sz="1600" b="1" dirty="0"/>
              <a:t> (Rastgele Orman)</a:t>
            </a:r>
            <a:r>
              <a:rPr lang="tr-TR" sz="1600" dirty="0"/>
              <a:t> algoritmasını kullandık. Bu algoritma, "Topluluk Öğrenmesi" (</a:t>
            </a:r>
            <a:r>
              <a:rPr lang="tr-TR" sz="1600" dirty="0" err="1"/>
              <a:t>Ensemble</a:t>
            </a:r>
            <a:r>
              <a:rPr lang="tr-TR" sz="1600" dirty="0"/>
              <a:t> Learning) prensibiyle çalışır.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600" b="1" dirty="0"/>
              <a:t>Nasıl Çalışır?:</a:t>
            </a:r>
            <a:r>
              <a:rPr lang="tr-TR" sz="1600" dirty="0"/>
              <a:t> Tek bir karar ağacı oluşturmak yerine, yüzlerce farklı karar ağacı oluşturur. Her ağaç verinin farklı bir kısmına bakarak bir tahmin yapar. En sonunda "çoğunluk oyu" (</a:t>
            </a:r>
            <a:r>
              <a:rPr lang="tr-TR" sz="1600" dirty="0" err="1"/>
              <a:t>majority</a:t>
            </a:r>
            <a:r>
              <a:rPr lang="tr-TR" sz="1600" dirty="0"/>
              <a:t> </a:t>
            </a:r>
            <a:r>
              <a:rPr lang="tr-TR" sz="1600" dirty="0" err="1"/>
              <a:t>voting</a:t>
            </a:r>
            <a:r>
              <a:rPr lang="tr-TR" sz="1600" dirty="0"/>
              <a:t>) ile en çok çıkan sonuç teşhis olarak kabul edilir.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600" b="1" dirty="0"/>
              <a:t>Avantajı:</a:t>
            </a:r>
            <a:r>
              <a:rPr lang="tr-TR" sz="1600" dirty="0"/>
              <a:t> Tek bir ağacın yapabileceği hataları (</a:t>
            </a:r>
            <a:r>
              <a:rPr lang="tr-TR" sz="1600" dirty="0" err="1"/>
              <a:t>overfitting</a:t>
            </a:r>
            <a:r>
              <a:rPr lang="tr-TR" sz="1600" dirty="0"/>
              <a:t>/aşırı öğrenme) diğer ağaçlar dengeler. Sağlık gibi kritik verilerde bu "uzlaşma" mantığı çok daha yüksek doğruluk sağlar.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</a:t>
            </a:r>
          </a:p>
        </p:txBody>
      </p:sp>
      <p:sp>
        <p:nvSpPr>
          <p:cNvPr id="7" name="Text 5"/>
          <p:cNvSpPr/>
          <p:nvPr/>
        </p:nvSpPr>
        <p:spPr>
          <a:xfrm>
            <a:off x="457199" y="2109651"/>
            <a:ext cx="831450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600" b="1" dirty="0"/>
              <a:t>Sınıf Dengesi (Class </a:t>
            </a:r>
            <a:r>
              <a:rPr lang="tr-TR" sz="1600" b="1" dirty="0" err="1"/>
              <a:t>Balance</a:t>
            </a:r>
            <a:r>
              <a:rPr lang="tr-TR" sz="1600" b="1" dirty="0"/>
              <a:t>):</a:t>
            </a:r>
            <a:r>
              <a:rPr lang="tr-TR" sz="1600" dirty="0"/>
              <a:t>  Veri setinde her hastalık sınıfı (</a:t>
            </a:r>
            <a:r>
              <a:rPr lang="tr-TR" sz="1600" dirty="0" err="1"/>
              <a:t>prognosis</a:t>
            </a:r>
            <a:r>
              <a:rPr lang="tr-TR" sz="1600" dirty="0"/>
              <a:t>) için eşit sayıda (genellikle her hastalık için 120 örnek) veri bulunmaktadır. Bu durum, modelin </a:t>
            </a:r>
            <a:r>
              <a:rPr lang="tr-TR" sz="1600" b="1" dirty="0"/>
              <a:t>"Dengeli Sınıflandırma" (</a:t>
            </a:r>
            <a:r>
              <a:rPr lang="tr-TR" sz="1600" b="1" dirty="0" err="1"/>
              <a:t>Balanced</a:t>
            </a:r>
            <a:r>
              <a:rPr lang="tr-TR" sz="1600" b="1" dirty="0"/>
              <a:t> </a:t>
            </a:r>
            <a:r>
              <a:rPr lang="tr-TR" sz="1600" b="1" dirty="0" err="1"/>
              <a:t>Classification</a:t>
            </a:r>
            <a:r>
              <a:rPr lang="tr-TR" sz="1600" b="1" dirty="0"/>
              <a:t>)</a:t>
            </a:r>
            <a:r>
              <a:rPr lang="tr-TR" sz="1600" dirty="0"/>
              <a:t> yapmasını sağlar ve belirli bir hastalığa karşı yanlılık (</a:t>
            </a:r>
            <a:r>
              <a:rPr lang="tr-TR" sz="1600" dirty="0" err="1"/>
              <a:t>bias</a:t>
            </a:r>
            <a:r>
              <a:rPr lang="tr-TR" sz="1600" dirty="0"/>
              <a:t>) oluşmasını engeller.</a:t>
            </a:r>
          </a:p>
          <a:p>
            <a:endParaRPr lang="tr-TR" sz="1600" dirty="0"/>
          </a:p>
          <a:p>
            <a:endParaRPr lang="tr-TR" sz="1600" dirty="0"/>
          </a:p>
          <a:p>
            <a:endParaRPr lang="tr-TR" sz="1600" dirty="0"/>
          </a:p>
          <a:p>
            <a:r>
              <a:rPr lang="tr-TR" sz="1600" b="1" dirty="0" err="1"/>
              <a:t>Gini</a:t>
            </a:r>
            <a:r>
              <a:rPr lang="tr-TR" sz="1600" b="1" dirty="0"/>
              <a:t> Safsızlığı (</a:t>
            </a:r>
            <a:r>
              <a:rPr lang="tr-TR" sz="1600" b="1" dirty="0" err="1"/>
              <a:t>Gini</a:t>
            </a:r>
            <a:r>
              <a:rPr lang="tr-TR" sz="1600" b="1" dirty="0"/>
              <a:t> </a:t>
            </a:r>
            <a:r>
              <a:rPr lang="tr-TR" sz="1600" b="1" dirty="0" err="1"/>
              <a:t>Impurity</a:t>
            </a:r>
            <a:r>
              <a:rPr lang="tr-TR" sz="1600" b="1" dirty="0"/>
              <a:t>):</a:t>
            </a:r>
            <a:r>
              <a:rPr lang="tr-TR" sz="1600" dirty="0"/>
              <a:t> Karar ağaçları oluşturulurken, dallanma işlemi "</a:t>
            </a:r>
            <a:r>
              <a:rPr lang="tr-TR" sz="1600" dirty="0" err="1"/>
              <a:t>Gini</a:t>
            </a:r>
            <a:r>
              <a:rPr lang="tr-TR" sz="1600" dirty="0"/>
              <a:t> Safsızlığı" kriterine göre yapılır. Model, her adımda hangi semptomun (örneğin: </a:t>
            </a:r>
            <a:r>
              <a:rPr lang="tr-TR" dirty="0" err="1"/>
              <a:t>itching</a:t>
            </a:r>
            <a:r>
              <a:rPr lang="tr-TR" sz="1600" dirty="0"/>
              <a:t>) veriyi en saf (hastalığı en net ayırt eden) şekilde böleceğini hesaplar</a:t>
            </a:r>
            <a:r>
              <a:rPr lang="tr-TR" sz="1600" dirty="0" smtClean="0"/>
              <a:t>.</a:t>
            </a:r>
            <a:r>
              <a:rPr lang="tr-TR" b="1" dirty="0"/>
              <a:t> 0.5 Değeri (Maksimum </a:t>
            </a:r>
            <a:r>
              <a:rPr lang="tr-TR" b="1" dirty="0" err="1"/>
              <a:t>Safsızlık</a:t>
            </a:r>
            <a:r>
              <a:rPr lang="tr-TR" b="1" dirty="0"/>
              <a:t>):</a:t>
            </a:r>
            <a:r>
              <a:rPr lang="tr-TR" sz="1600" dirty="0"/>
              <a:t> Veriler sınıflar arasında eşit olarak dağılmıştır (tam karışıklık).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</a:t>
            </a:r>
            <a:r>
              <a:rPr lang="tr-TR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ANALİZİ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26680" y="1417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26680" y="27889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1502229"/>
            <a:ext cx="2926080" cy="2914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726680" y="4160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00" dirty="0"/>
          </a:p>
        </p:txBody>
      </p:sp>
      <p:pic>
        <p:nvPicPr>
          <p:cNvPr id="41" name="Resim 40">
            <a:extLst>
              <a:ext uri="{FF2B5EF4-FFF2-40B4-BE49-F238E27FC236}">
                <a16:creationId xmlns:a16="http://schemas.microsoft.com/office/drawing/2014/main" id="{4F86EF6C-1035-A968-2062-552FC6011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903" y="640080"/>
            <a:ext cx="5368532" cy="4450665"/>
          </a:xfrm>
          <a:prstGeom prst="rect">
            <a:avLst/>
          </a:prstGeom>
        </p:spPr>
      </p:pic>
      <p:sp>
        <p:nvSpPr>
          <p:cNvPr id="43" name="Metin kutusu 42">
            <a:extLst>
              <a:ext uri="{FF2B5EF4-FFF2-40B4-BE49-F238E27FC236}">
                <a16:creationId xmlns:a16="http://schemas.microsoft.com/office/drawing/2014/main" id="{DCBB4C52-0830-C65B-68CB-DFF8EBBF3553}"/>
              </a:ext>
            </a:extLst>
          </p:cNvPr>
          <p:cNvSpPr txBox="1"/>
          <p:nvPr/>
        </p:nvSpPr>
        <p:spPr>
          <a:xfrm>
            <a:off x="68581" y="953589"/>
            <a:ext cx="4111533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1200" b="1" dirty="0"/>
              <a:t>Veri Kümesi Dağılımı</a:t>
            </a:r>
          </a:p>
          <a:p>
            <a:pPr>
              <a:buNone/>
            </a:pPr>
            <a:r>
              <a:rPr lang="tr-TR" sz="1200" dirty="0"/>
              <a:t>Bu grafik, projemizde kullanılan eğitim veri setindeki hastalıkların frekans dağılımını göstermektedir.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200" b="1" dirty="0"/>
              <a:t>Sınıf Dengesi:</a:t>
            </a:r>
            <a:r>
              <a:rPr lang="tr-TR" sz="1200" dirty="0"/>
              <a:t> Grafikte görüldüğü üzere, "</a:t>
            </a:r>
            <a:r>
              <a:rPr lang="tr-TR" sz="1200" dirty="0" err="1"/>
              <a:t>Fungal</a:t>
            </a:r>
            <a:r>
              <a:rPr lang="tr-TR" sz="1200" dirty="0"/>
              <a:t> </a:t>
            </a:r>
            <a:r>
              <a:rPr lang="tr-TR" sz="1200" dirty="0" err="1"/>
              <a:t>infection</a:t>
            </a:r>
            <a:r>
              <a:rPr lang="tr-TR" sz="1200" dirty="0"/>
              <a:t>  (Mantar enfeksiyonu) dışındaki tüm hastalıklar veri setinde eşit oranda temsil edilmektedir. Bu durum, modelin belirli bir hastalığa karşı yanlılık (</a:t>
            </a:r>
            <a:r>
              <a:rPr lang="tr-TR" sz="1200" dirty="0" err="1"/>
              <a:t>bias</a:t>
            </a:r>
            <a:r>
              <a:rPr lang="tr-TR" sz="1200" dirty="0"/>
              <a:t>) geliştirmesini önler ve tüm teşhislerde objektif bir başarı sergilemesini sağlar.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200" b="1" dirty="0"/>
              <a:t>Veri Kalitesi:</a:t>
            </a:r>
            <a:r>
              <a:rPr lang="tr-TR" sz="1200" dirty="0"/>
              <a:t> Veri setinin yapılandırılmış ve dengeli olması, </a:t>
            </a:r>
            <a:r>
              <a:rPr lang="tr-TR" sz="1200" dirty="0" err="1"/>
              <a:t>Random</a:t>
            </a:r>
            <a:r>
              <a:rPr lang="tr-TR" sz="1200" dirty="0"/>
              <a:t> </a:t>
            </a:r>
            <a:r>
              <a:rPr lang="tr-TR" sz="1200" dirty="0" err="1"/>
              <a:t>Forest</a:t>
            </a:r>
            <a:r>
              <a:rPr lang="tr-TR" sz="1200" dirty="0"/>
              <a:t> algoritmasının genelleme (</a:t>
            </a:r>
            <a:r>
              <a:rPr lang="tr-TR" sz="1200" dirty="0" err="1"/>
              <a:t>generalization</a:t>
            </a:r>
            <a:r>
              <a:rPr lang="tr-TR" sz="1200" dirty="0"/>
              <a:t>) yeteneğini artırarak gerçek dünya verilerinde daha kararlı sonuçlar vermesine olanak tanır.</a:t>
            </a:r>
          </a:p>
          <a:p>
            <a:r>
              <a:rPr lang="tr-TR" sz="1200" dirty="0"/>
              <a:t>Kullandığımız </a:t>
            </a:r>
            <a:r>
              <a:rPr lang="tr-TR" sz="1200" b="1" dirty="0" err="1"/>
              <a:t>Random</a:t>
            </a:r>
            <a:r>
              <a:rPr lang="tr-TR" sz="1200" b="1" dirty="0"/>
              <a:t> </a:t>
            </a:r>
            <a:r>
              <a:rPr lang="tr-TR" sz="1200" b="1" dirty="0" err="1"/>
              <a:t>Forest</a:t>
            </a:r>
            <a:r>
              <a:rPr lang="tr-TR" sz="1200" dirty="0"/>
              <a:t> algoritması, karar ağaçlarını oluştururken veriyi "Semptom var mı, yok mu?" sorusuna göre böler.</a:t>
            </a:r>
          </a:p>
          <a:p>
            <a:r>
              <a:rPr lang="tr-TR" sz="1200" dirty="0"/>
              <a:t>Eğer değer </a:t>
            </a:r>
            <a:r>
              <a:rPr lang="tr-TR" sz="1200" b="1" dirty="0"/>
              <a:t>1</a:t>
            </a:r>
            <a:r>
              <a:rPr lang="tr-TR" sz="1200" dirty="0"/>
              <a:t> ise (Var), ağaç bir yöne dallanır.</a:t>
            </a:r>
          </a:p>
          <a:p>
            <a:r>
              <a:rPr lang="tr-TR" sz="1200" dirty="0"/>
              <a:t>Eğer değer </a:t>
            </a:r>
            <a:r>
              <a:rPr lang="tr-TR" sz="1200" b="1" dirty="0"/>
              <a:t>0</a:t>
            </a:r>
            <a:r>
              <a:rPr lang="tr-TR" sz="1200" dirty="0"/>
              <a:t> ise (Yok), ağaç diğer yöne dallanır. Bu ikili yapı, algoritmanın en hızlı ve en kesin karar verme yoludur.</a:t>
            </a:r>
          </a:p>
          <a:p>
            <a:pPr>
              <a:buFont typeface="Arial" panose="020B0604020202020204" pitchFamily="34" charset="0"/>
              <a:buChar char="•"/>
            </a:pPr>
            <a:endParaRPr lang="tr-TR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</a:t>
            </a:r>
            <a:r>
              <a:rPr lang="tr-TR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ANALİZİ</a:t>
            </a:r>
            <a:endParaRPr lang="en-US" sz="2200" dirty="0"/>
          </a:p>
        </p:txBody>
      </p:sp>
      <p:pic>
        <p:nvPicPr>
          <p:cNvPr id="36" name="Resim 35">
            <a:extLst>
              <a:ext uri="{FF2B5EF4-FFF2-40B4-BE49-F238E27FC236}">
                <a16:creationId xmlns:a16="http://schemas.microsoft.com/office/drawing/2014/main" id="{3D34D88C-8E06-12FE-7B5A-348EA2283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276" y="1052464"/>
            <a:ext cx="4714109" cy="3575013"/>
          </a:xfrm>
          <a:prstGeom prst="rect">
            <a:avLst/>
          </a:prstGeom>
        </p:spPr>
      </p:pic>
      <p:sp>
        <p:nvSpPr>
          <p:cNvPr id="38" name="Metin kutusu 37">
            <a:extLst>
              <a:ext uri="{FF2B5EF4-FFF2-40B4-BE49-F238E27FC236}">
                <a16:creationId xmlns:a16="http://schemas.microsoft.com/office/drawing/2014/main" id="{501B39A9-7EFD-E370-576C-7EF0B82378E8}"/>
              </a:ext>
            </a:extLst>
          </p:cNvPr>
          <p:cNvSpPr txBox="1"/>
          <p:nvPr/>
        </p:nvSpPr>
        <p:spPr>
          <a:xfrm>
            <a:off x="179615" y="1177978"/>
            <a:ext cx="414213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1400" b="1" dirty="0"/>
              <a:t>Renk Kodlaması (</a:t>
            </a:r>
            <a:r>
              <a:rPr lang="tr-TR" sz="1400" b="1" dirty="0" err="1"/>
              <a:t>Binary</a:t>
            </a:r>
            <a:r>
              <a:rPr lang="tr-TR" sz="1400" b="1" dirty="0"/>
              <a:t> </a:t>
            </a:r>
            <a:r>
              <a:rPr lang="tr-TR" sz="1400" b="1" dirty="0" err="1"/>
              <a:t>Map</a:t>
            </a:r>
            <a:r>
              <a:rPr lang="tr-TR" sz="1400" b="1" dirty="0"/>
              <a:t>):</a:t>
            </a:r>
            <a:endParaRPr lang="tr-TR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1400" b="1" dirty="0"/>
              <a:t>Koyu Lacivert (1):</a:t>
            </a:r>
            <a:r>
              <a:rPr lang="tr-TR" sz="1400" dirty="0"/>
              <a:t> İlgili hastada o semptomun mevcut olduğunu gösterir.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400" b="1" dirty="0"/>
              <a:t>Açık Sarı (0):</a:t>
            </a:r>
            <a:r>
              <a:rPr lang="tr-TR" sz="1400" dirty="0"/>
              <a:t> İlgili hastada o semptomun bulunmadığını gösterir.</a:t>
            </a:r>
          </a:p>
          <a:p>
            <a:pPr>
              <a:buNone/>
            </a:pPr>
            <a:r>
              <a:rPr lang="tr-TR" sz="1400" b="1" dirty="0"/>
              <a:t>Korelasyon ve Kümelenme (Clustering):</a:t>
            </a:r>
            <a:endParaRPr lang="tr-TR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1400" dirty="0"/>
              <a:t>Grafikte dikey sütunlar halinde uzanan koyu bloklar (örneğin </a:t>
            </a:r>
            <a:r>
              <a:rPr lang="tr-TR" sz="1400" dirty="0" err="1">
                <a:latin typeface="Courier New" panose="02070309020205020404" pitchFamily="49" charset="0"/>
              </a:rPr>
              <a:t>vomiting</a:t>
            </a:r>
            <a:r>
              <a:rPr lang="tr-TR" sz="1400" dirty="0"/>
              <a:t> veya </a:t>
            </a:r>
            <a:r>
              <a:rPr lang="tr-TR" sz="1400" dirty="0" err="1">
                <a:latin typeface="Courier New" panose="02070309020205020404" pitchFamily="49" charset="0"/>
              </a:rPr>
              <a:t>fatigue</a:t>
            </a:r>
            <a:r>
              <a:rPr lang="tr-TR" sz="1400" dirty="0"/>
              <a:t>), bu semptomların birçok farklı hastalıkta ortak olarak görüldüğünü kanıtlar.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400" dirty="0"/>
              <a:t>Yatay satırlardaki koyu noktaların dağılımı ise, her bir hastalığın kendine has bir </a:t>
            </a:r>
            <a:r>
              <a:rPr lang="tr-TR" sz="1400" b="1" dirty="0"/>
              <a:t>"semptom imzası"</a:t>
            </a:r>
            <a:r>
              <a:rPr lang="tr-TR" sz="1400" dirty="0"/>
              <a:t> olduğunu gösterir. Model (</a:t>
            </a:r>
            <a:r>
              <a:rPr lang="tr-TR" sz="1400" dirty="0" err="1"/>
              <a:t>Random</a:t>
            </a:r>
            <a:r>
              <a:rPr lang="tr-TR" sz="1400" dirty="0"/>
              <a:t> </a:t>
            </a:r>
            <a:r>
              <a:rPr lang="tr-TR" sz="1400" dirty="0" err="1"/>
              <a:t>Forest</a:t>
            </a:r>
            <a:r>
              <a:rPr lang="tr-TR" sz="1400" dirty="0"/>
              <a:t>), tam olarak bu imzalardaki benzerlik ve farklılıkları öğrenerek teşhis koymaktadır.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64008" cy="11887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85800" y="4114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3800" dirty="0"/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C6D8E11C-0E61-6E7E-E21C-1715D6E70C4D}"/>
              </a:ext>
            </a:extLst>
          </p:cNvPr>
          <p:cNvSpPr txBox="1"/>
          <p:nvPr/>
        </p:nvSpPr>
        <p:spPr>
          <a:xfrm>
            <a:off x="956116" y="1180223"/>
            <a:ext cx="54897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b="1" dirty="0">
                <a:solidFill>
                  <a:schemeClr val="bg1"/>
                </a:solidFill>
              </a:rPr>
              <a:t>Veri Madenciliği Boru Hattı:</a:t>
            </a:r>
            <a:r>
              <a:rPr lang="tr-TR" dirty="0">
                <a:solidFill>
                  <a:schemeClr val="bg1"/>
                </a:solidFill>
              </a:rPr>
              <a:t> Ham verinin işlenmesinden (</a:t>
            </a:r>
            <a:r>
              <a:rPr lang="tr-TR" dirty="0" err="1">
                <a:solidFill>
                  <a:schemeClr val="bg1"/>
                </a:solidFill>
              </a:rPr>
              <a:t>Binary</a:t>
            </a:r>
            <a:r>
              <a:rPr lang="tr-TR" dirty="0">
                <a:solidFill>
                  <a:schemeClr val="bg1"/>
                </a:solidFill>
              </a:rPr>
              <a:t> </a:t>
            </a:r>
            <a:r>
              <a:rPr lang="tr-TR" dirty="0" err="1">
                <a:solidFill>
                  <a:schemeClr val="bg1"/>
                </a:solidFill>
              </a:rPr>
              <a:t>Encoding</a:t>
            </a:r>
            <a:r>
              <a:rPr lang="tr-TR" dirty="0">
                <a:solidFill>
                  <a:schemeClr val="bg1"/>
                </a:solidFill>
              </a:rPr>
              <a:t>), modelin eğitilmesine ve son kullanıcıya sunulmasına (Deployment) kadar olan "Uçtan Uca" (</a:t>
            </a:r>
            <a:r>
              <a:rPr lang="tr-TR" dirty="0" err="1">
                <a:solidFill>
                  <a:schemeClr val="bg1"/>
                </a:solidFill>
              </a:rPr>
              <a:t>End-to-End</a:t>
            </a:r>
            <a:r>
              <a:rPr lang="tr-TR" dirty="0">
                <a:solidFill>
                  <a:schemeClr val="bg1"/>
                </a:solidFill>
              </a:rPr>
              <a:t>) mühendislik süreci </a:t>
            </a:r>
            <a:r>
              <a:rPr lang="tr-TR" dirty="0" smtClean="0">
                <a:solidFill>
                  <a:schemeClr val="bg1"/>
                </a:solidFill>
              </a:rPr>
              <a:t>başarıyla tamamlanmıştır.</a:t>
            </a:r>
          </a:p>
          <a:p>
            <a:pPr>
              <a:buNone/>
            </a:pPr>
            <a:endParaRPr lang="tr-TR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tr-TR" b="1" dirty="0" smtClean="0">
                <a:solidFill>
                  <a:schemeClr val="bg1"/>
                </a:solidFill>
              </a:rPr>
              <a:t>Erişilebilirlik:</a:t>
            </a:r>
            <a:r>
              <a:rPr lang="tr-TR" dirty="0" smtClean="0">
                <a:solidFill>
                  <a:schemeClr val="bg1"/>
                </a:solidFill>
              </a:rPr>
              <a:t> Hazırlanan web </a:t>
            </a:r>
            <a:r>
              <a:rPr lang="tr-TR" dirty="0" err="1" smtClean="0">
                <a:solidFill>
                  <a:schemeClr val="bg1"/>
                </a:solidFill>
              </a:rPr>
              <a:t>arayüzü</a:t>
            </a:r>
            <a:r>
              <a:rPr lang="tr-TR" dirty="0" smtClean="0">
                <a:solidFill>
                  <a:schemeClr val="bg1"/>
                </a:solidFill>
              </a:rPr>
              <a:t> ve portal yapısı sayesinde, karmaşık makine öğrenmesi algoritmaları son kullanıcı için basit ve anlaşılır bir etkileşim aracına dönüştürülmüştür.</a:t>
            </a:r>
            <a:endParaRPr lang="tr-T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690</Words>
  <Application>Microsoft Office PowerPoint</Application>
  <PresentationFormat>Ekran Gösterisi (16:9)</PresentationFormat>
  <Paragraphs>54</Paragraphs>
  <Slides>7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 Madenciliği - Python Projesi</dc:title>
  <dc:subject>PptxGenJS Presentation</dc:subject>
  <dc:creator>PptxGenJS</dc:creator>
  <cp:lastModifiedBy>MONSTER</cp:lastModifiedBy>
  <cp:revision>3</cp:revision>
  <dcterms:created xsi:type="dcterms:W3CDTF">2026-05-04T12:51:21Z</dcterms:created>
  <dcterms:modified xsi:type="dcterms:W3CDTF">2026-05-06T09:40:37Z</dcterms:modified>
</cp:coreProperties>
</file>